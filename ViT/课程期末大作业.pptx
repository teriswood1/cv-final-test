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66" r:id="rId6"/>
    <p:sldId id="267" r:id="rId7"/>
    <p:sldId id="270" r:id="rId8"/>
    <p:sldId id="271" r:id="rId9"/>
    <p:sldId id="268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0253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0253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3"/>
            <a:ext cx="12192000" cy="158750"/>
          </a:xfrm>
          <a:custGeom>
            <a:avLst/>
            <a:gdLst/>
            <a:ahLst/>
            <a:cxnLst/>
            <a:rect l="l" t="t" r="r" b="b"/>
            <a:pathLst>
              <a:path w="12192000" h="158750">
                <a:moveTo>
                  <a:pt x="12192000" y="0"/>
                </a:moveTo>
                <a:lnTo>
                  <a:pt x="0" y="0"/>
                </a:lnTo>
                <a:lnTo>
                  <a:pt x="0" y="158178"/>
                </a:lnTo>
                <a:lnTo>
                  <a:pt x="12192000" y="15817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347E">
              <a:alpha val="8901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4581" y="289510"/>
            <a:ext cx="827568" cy="8275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58750"/>
          </a:xfrm>
          <a:custGeom>
            <a:avLst/>
            <a:gdLst/>
            <a:ahLst/>
            <a:cxnLst/>
            <a:rect l="l" t="t" r="r" b="b"/>
            <a:pathLst>
              <a:path w="12192000" h="158750">
                <a:moveTo>
                  <a:pt x="12192000" y="0"/>
                </a:moveTo>
                <a:lnTo>
                  <a:pt x="0" y="0"/>
                </a:lnTo>
                <a:lnTo>
                  <a:pt x="0" y="158178"/>
                </a:lnTo>
                <a:lnTo>
                  <a:pt x="12192000" y="15817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5347F">
              <a:alpha val="8901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26324" y="271263"/>
            <a:ext cx="864152" cy="8641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05300" y="180339"/>
            <a:ext cx="35814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7582" y="1256284"/>
            <a:ext cx="7533005" cy="2842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0253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thub.com/cvpr-org/author-kit/releases" TargetMode="Externa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549" y="254254"/>
          <a:ext cx="12003405" cy="6448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9495"/>
                <a:gridCol w="5181600"/>
                <a:gridCol w="897890"/>
                <a:gridCol w="3525520"/>
              </a:tblGrid>
              <a:tr h="535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spc="-20" dirty="0">
                          <a:latin typeface="Microsoft JhengHei"/>
                          <a:cs typeface="Microsoft JhengHei"/>
                        </a:rPr>
                        <a:t>评分项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spc="-15" dirty="0">
                          <a:latin typeface="Microsoft JhengHei"/>
                          <a:cs typeface="Microsoft JhengHei"/>
                        </a:rPr>
                        <a:t>具体要求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dirty="0">
                          <a:latin typeface="Microsoft JhengHei"/>
                          <a:cs typeface="Microsoft JhengHei"/>
                        </a:rPr>
                        <a:t>权重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(%)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spc="-25" dirty="0">
                          <a:latin typeface="Microsoft JhengHei"/>
                          <a:cs typeface="Microsoft JhengHei"/>
                        </a:rPr>
                        <a:t>备注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1800" b="1" spc="-15" dirty="0">
                          <a:latin typeface="Microsoft JhengHei"/>
                          <a:cs typeface="Microsoft JhengHei"/>
                        </a:rPr>
                        <a:t>项目报告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1800" b="1" spc="-10" dirty="0">
                          <a:latin typeface="Microsoft JhengHei"/>
                          <a:cs typeface="Microsoft JhengHei"/>
                        </a:rPr>
                        <a:t>未提交不得分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800" spc="-25" dirty="0">
                          <a:latin typeface="宋体"/>
                          <a:cs typeface="宋体"/>
                        </a:rPr>
                        <a:t>完整性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800" spc="-15" dirty="0">
                          <a:latin typeface="宋体"/>
                          <a:cs typeface="宋体"/>
                        </a:rPr>
                        <a:t>任务背景、方法、实验、结果分析等完整性。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包括图表等实验结果及实验分析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5" dirty="0">
                          <a:latin typeface="宋体"/>
                          <a:cs typeface="宋体"/>
                        </a:rPr>
                        <a:t>等</a:t>
                      </a:r>
                      <a:r>
                        <a:rPr lang="en-US" sz="1800" spc="-15" dirty="0">
                          <a:latin typeface="宋体"/>
                          <a:cs typeface="宋体"/>
                        </a:rPr>
                        <a:t>；</a:t>
                      </a:r>
                      <a:r>
                        <a:rPr sz="1800" spc="-15" dirty="0">
                          <a:latin typeface="宋体"/>
                          <a:cs typeface="宋体"/>
                        </a:rPr>
                        <a:t>包括小组信息及成员贡献等。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20" dirty="0">
                          <a:latin typeface="宋体"/>
                          <a:cs typeface="宋体"/>
                        </a:rPr>
                        <a:t>规范性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引用文献格式统一，语言表达清晰。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25" dirty="0">
                          <a:latin typeface="宋体"/>
                          <a:cs typeface="宋体"/>
                        </a:rPr>
                        <a:t>美观性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15" dirty="0">
                          <a:latin typeface="宋体"/>
                          <a:cs typeface="宋体"/>
                        </a:rPr>
                        <a:t>排版整齐，图片高清，布局合理。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spc="-15" dirty="0">
                          <a:latin typeface="Microsoft JhengHei"/>
                          <a:cs typeface="Microsoft JhengHei"/>
                        </a:rPr>
                        <a:t>课堂汇报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spc="90" dirty="0">
                          <a:latin typeface="Microsoft JhengHei"/>
                          <a:cs typeface="Microsoft JhengHei"/>
                        </a:rPr>
                        <a:t>未</a:t>
                      </a:r>
                      <a:r>
                        <a:rPr lang="zh-CN" sz="1800" b="1" spc="90" dirty="0">
                          <a:latin typeface="Microsoft JhengHei"/>
                          <a:cs typeface="Microsoft JhengHei"/>
                        </a:rPr>
                        <a:t>出</a:t>
                      </a:r>
                      <a:r>
                        <a:rPr sz="1800" b="1" spc="75" dirty="0">
                          <a:latin typeface="Microsoft JhengHei"/>
                          <a:cs typeface="Microsoft JhengHei"/>
                        </a:rPr>
                        <a:t>席不得分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4768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20" dirty="0">
                          <a:latin typeface="宋体"/>
                          <a:cs typeface="宋体"/>
                        </a:rPr>
                        <a:t>完整性与逻辑性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15" dirty="0">
                          <a:latin typeface="宋体"/>
                          <a:cs typeface="宋体"/>
                        </a:rPr>
                        <a:t>覆盖背景、方法、实验结果；汇报逻辑清晰。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时间安排合理</a:t>
                      </a:r>
                      <a:r>
                        <a:rPr lang="en-US" sz="1800" spc="-1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1800" spc="-20" dirty="0">
                          <a:latin typeface="宋体"/>
                          <a:cs typeface="宋体"/>
                        </a:rPr>
                        <a:t>汇报流畅。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20" dirty="0">
                          <a:latin typeface="宋体"/>
                          <a:cs typeface="宋体"/>
                        </a:rPr>
                        <a:t>美观性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版式简洁，配色合理。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b="1" spc="-15" dirty="0">
                          <a:latin typeface="Microsoft JhengHei"/>
                          <a:cs typeface="Microsoft JhengHei"/>
                        </a:rPr>
                        <a:t>项目实现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45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b="1" spc="-10" dirty="0">
                          <a:latin typeface="Microsoft JhengHei"/>
                          <a:cs typeface="Microsoft JhengHei"/>
                        </a:rPr>
                        <a:t>未提交代码不得分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15" dirty="0">
                          <a:latin typeface="宋体"/>
                          <a:cs typeface="宋体"/>
                        </a:rPr>
                        <a:t>基准复现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复现相关任务基准，并进行全面对比。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24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结果可信，结论合理；复现最新</a:t>
                      </a:r>
                      <a:r>
                        <a:rPr sz="1800" spc="-10" dirty="0">
                          <a:latin typeface="宋体"/>
                          <a:cs typeface="宋体"/>
                        </a:rPr>
                        <a:t>方法加分。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20" dirty="0">
                          <a:latin typeface="宋体"/>
                          <a:cs typeface="宋体"/>
                        </a:rPr>
                        <a:t>方法创新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15" dirty="0">
                          <a:latin typeface="宋体"/>
                          <a:cs typeface="宋体"/>
                        </a:rPr>
                        <a:t>方案包含有效创新点，且进行消融实验验证。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创新点需具体明确；消融实验设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计合理；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15" dirty="0">
                          <a:latin typeface="宋体"/>
                          <a:cs typeface="宋体"/>
                        </a:rPr>
                        <a:t>个有效创新点满分。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Microsoft JhengHei"/>
                          <a:cs typeface="Microsoft JhengHei"/>
                        </a:rPr>
                        <a:t>项目实现效果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81305" algn="just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根据实验</a:t>
                      </a:r>
                      <a:r>
                        <a:rPr lang="zh-CN" sz="1800" dirty="0">
                          <a:latin typeface="宋体"/>
                          <a:cs typeface="宋体"/>
                        </a:rPr>
                        <a:t>分析过程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打分，设计实验需要证明</a:t>
                      </a:r>
                      <a:r>
                        <a:rPr lang="zh-CN" sz="1800" dirty="0">
                          <a:latin typeface="宋体"/>
                          <a:cs typeface="宋体"/>
                        </a:rPr>
                        <a:t>提出</a:t>
                      </a:r>
                      <a:r>
                        <a:rPr sz="1800" spc="-25" dirty="0">
                          <a:latin typeface="宋体"/>
                          <a:cs typeface="宋体"/>
                        </a:rPr>
                        <a:t>方法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的有效性。具体得分依据</a:t>
                      </a:r>
                      <a:r>
                        <a:rPr lang="zh-CN" sz="1800" spc="-5" dirty="0">
                          <a:latin typeface="宋体"/>
                          <a:cs typeface="宋体"/>
                        </a:rPr>
                        <a:t>分析</a:t>
                      </a:r>
                      <a:r>
                        <a:rPr lang="zh-CN" sz="1800" spc="-5" dirty="0">
                          <a:latin typeface="宋体"/>
                          <a:cs typeface="宋体"/>
                        </a:rPr>
                        <a:t>内容并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与班上</a:t>
                      </a:r>
                      <a:r>
                        <a:rPr sz="1800" spc="-15" dirty="0">
                          <a:latin typeface="宋体"/>
                          <a:cs typeface="宋体"/>
                        </a:rPr>
                        <a:t>其他相同课题小组的性能比较最终决定。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8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Microsoft JhengHei"/>
                          <a:cs typeface="Microsoft JhengHei"/>
                        </a:rPr>
                        <a:t>实验设计不合理不得分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12192000" cy="158750"/>
          </a:xfrm>
          <a:custGeom>
            <a:avLst/>
            <a:gdLst/>
            <a:ahLst/>
            <a:cxnLst/>
            <a:rect l="l" t="t" r="r" b="b"/>
            <a:pathLst>
              <a:path w="12192000" h="158750">
                <a:moveTo>
                  <a:pt x="12192000" y="0"/>
                </a:moveTo>
                <a:lnTo>
                  <a:pt x="0" y="0"/>
                </a:lnTo>
                <a:lnTo>
                  <a:pt x="0" y="158178"/>
                </a:lnTo>
                <a:lnTo>
                  <a:pt x="12192000" y="15817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347E">
              <a:alpha val="8901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44581" y="289510"/>
            <a:ext cx="827568" cy="8275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27070" y="325323"/>
            <a:ext cx="5100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课程项目最终提交文档</a:t>
            </a:r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1405890" y="1390650"/>
            <a:ext cx="9484360" cy="4159885"/>
          </a:xfrm>
          <a:prstGeom prst="rect">
            <a:avLst/>
          </a:prstGeom>
          <a:ln w="12700">
            <a:solidFill>
              <a:srgbClr val="7E7E7E"/>
            </a:solidFill>
          </a:ln>
        </p:spPr>
        <p:txBody>
          <a:bodyPr vert="horz" wrap="square" lIns="0" tIns="134620" rIns="0" bIns="0" rtlCol="0">
            <a:noAutofit/>
          </a:bodyPr>
          <a:lstStyle/>
          <a:p>
            <a:pPr marL="807720" indent="-342265">
              <a:lnSpc>
                <a:spcPct val="100000"/>
              </a:lnSpc>
              <a:spcBef>
                <a:spcPts val="1060"/>
              </a:spcBef>
              <a:buFont typeface="Wingdings" panose="05000000000000000000"/>
              <a:buChar char=""/>
              <a:tabLst>
                <a:tab pos="807720" algn="l"/>
              </a:tabLst>
            </a:pPr>
            <a:r>
              <a:rPr sz="2000" spc="-20" dirty="0">
                <a:latin typeface="微软雅黑"/>
                <a:cs typeface="微软雅黑"/>
              </a:rPr>
              <a:t>项目报告</a:t>
            </a:r>
            <a:endParaRPr sz="2000">
              <a:latin typeface="微软雅黑"/>
              <a:cs typeface="微软雅黑"/>
            </a:endParaRPr>
          </a:p>
          <a:p>
            <a:pPr marL="922655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微软雅黑"/>
                <a:cs typeface="微软雅黑"/>
              </a:rPr>
              <a:t>英文，CVPR</a:t>
            </a:r>
            <a:r>
              <a:rPr sz="2000" spc="-10" dirty="0">
                <a:latin typeface="微软雅黑"/>
                <a:cs typeface="微软雅黑"/>
              </a:rPr>
              <a:t>论文格式，双栏，不少于</a:t>
            </a:r>
            <a:r>
              <a:rPr sz="2000" dirty="0">
                <a:latin typeface="微软雅黑"/>
                <a:cs typeface="微软雅黑"/>
              </a:rPr>
              <a:t>4</a:t>
            </a:r>
            <a:r>
              <a:rPr sz="2000" spc="-35" dirty="0">
                <a:latin typeface="微软雅黑"/>
                <a:cs typeface="微软雅黑"/>
              </a:rPr>
              <a:t>页。</a:t>
            </a:r>
            <a:endParaRPr sz="2000">
              <a:latin typeface="微软雅黑"/>
              <a:cs typeface="微软雅黑"/>
            </a:endParaRPr>
          </a:p>
          <a:p>
            <a:pPr marL="92265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微软雅黑"/>
                <a:cs typeface="微软雅黑"/>
              </a:rPr>
              <a:t>论文格式下载：</a:t>
            </a: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  <a:hlinkClick r:id="rId2"/>
              </a:rPr>
              <a:t>https://github.com/cvpr-</a:t>
            </a:r>
            <a:r>
              <a:rPr sz="16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  <a:hlinkClick r:id="rId2"/>
              </a:rPr>
              <a:t>org/author-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  <a:hlinkClick r:id="rId2"/>
              </a:rPr>
              <a:t>kit/releases</a:t>
            </a:r>
            <a:endParaRPr sz="1600">
              <a:latin typeface="微软雅黑"/>
              <a:cs typeface="微软雅黑"/>
            </a:endParaRPr>
          </a:p>
          <a:p>
            <a:pPr marL="807720" indent="-34226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"/>
              <a:tabLst>
                <a:tab pos="807720" algn="l"/>
              </a:tabLst>
            </a:pPr>
            <a:r>
              <a:rPr lang="zh-CN" altLang="" sz="2000" spc="-20" dirty="0">
                <a:latin typeface="微软雅黑"/>
                <a:cs typeface="微软雅黑"/>
              </a:rPr>
              <a:t>从以下项目中任选其一即可</a:t>
            </a:r>
            <a:endParaRPr sz="2000" spc="-20" dirty="0">
              <a:latin typeface="微软雅黑"/>
              <a:cs typeface="微软雅黑"/>
            </a:endParaRPr>
          </a:p>
          <a:p>
            <a:pPr marL="807720" indent="-34226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"/>
              <a:tabLst>
                <a:tab pos="807720" algn="l"/>
              </a:tabLst>
            </a:pPr>
            <a:r>
              <a:rPr sz="2000" spc="-20" dirty="0">
                <a:latin typeface="微软雅黑"/>
                <a:cs typeface="微软雅黑"/>
              </a:rPr>
              <a:t>项目代码</a:t>
            </a:r>
            <a:endParaRPr sz="2000">
              <a:latin typeface="微软雅黑"/>
              <a:cs typeface="微软雅黑"/>
            </a:endParaRPr>
          </a:p>
          <a:p>
            <a:pPr marL="807720" indent="-34226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"/>
              <a:tabLst>
                <a:tab pos="807720" algn="l"/>
              </a:tabLst>
            </a:pPr>
            <a:r>
              <a:rPr sz="2000" spc="-10" dirty="0">
                <a:latin typeface="微软雅黑"/>
                <a:cs typeface="微软雅黑"/>
              </a:rPr>
              <a:t>各个项目对应提交内容</a:t>
            </a:r>
            <a:endParaRPr sz="2000">
              <a:latin typeface="微软雅黑"/>
              <a:cs typeface="微软雅黑"/>
            </a:endParaRPr>
          </a:p>
          <a:p>
            <a:pPr marL="807720" indent="-34226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"/>
              <a:tabLst>
                <a:tab pos="807720" algn="l"/>
              </a:tabLst>
            </a:pPr>
            <a:r>
              <a:rPr sz="2000" spc="-15" dirty="0">
                <a:latin typeface="微软雅黑"/>
                <a:cs typeface="微软雅黑"/>
              </a:rPr>
              <a:t>组长评分</a:t>
            </a:r>
            <a:br>
              <a:rPr sz="2000" spc="-15" dirty="0">
                <a:latin typeface="微软雅黑"/>
                <a:cs typeface="微软雅黑"/>
              </a:rPr>
            </a:br>
            <a:r>
              <a:rPr sz="2000" spc="-30" dirty="0">
                <a:latin typeface="微软雅黑"/>
                <a:cs typeface="微软雅黑"/>
              </a:rPr>
              <a:t>组长为各位组员(包括自己</a:t>
            </a:r>
            <a:r>
              <a:rPr lang="en-US" altLang="en-US" sz="2000" spc="-30" dirty="0">
                <a:latin typeface="微软雅黑"/>
                <a:cs typeface="微软雅黑"/>
              </a:rPr>
              <a:t>，</a:t>
            </a:r>
            <a:r>
              <a:rPr lang="en-US" altLang="zh-CN" sz="2000" spc="-30" dirty="0">
                <a:latin typeface="微软雅黑"/>
                <a:cs typeface="微软雅黑"/>
              </a:rPr>
              <a:t>3</a:t>
            </a:r>
            <a:r>
              <a:rPr lang="zh-CN" altLang="en-US" sz="2000" spc="-30" dirty="0">
                <a:latin typeface="微软雅黑"/>
                <a:cs typeface="微软雅黑"/>
              </a:rPr>
              <a:t>人一组</a:t>
            </a:r>
            <a:r>
              <a:rPr sz="2000" spc="-30" dirty="0">
                <a:latin typeface="微软雅黑"/>
                <a:cs typeface="微软雅黑"/>
              </a:rPr>
              <a:t>)评价对该项目的贡献占比，写明百分数</a:t>
            </a:r>
            <a:endParaRPr sz="2000" spc="-30" dirty="0">
              <a:latin typeface="微软雅黑"/>
              <a:cs typeface="微软雅黑"/>
            </a:endParaRPr>
          </a:p>
          <a:p>
            <a:pPr marL="807720" indent="-34226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"/>
              <a:tabLst>
                <a:tab pos="807720" algn="l"/>
              </a:tabLst>
            </a:pPr>
            <a:r>
              <a:rPr sz="2000" spc="-10" dirty="0">
                <a:latin typeface="微软雅黑"/>
                <a:cs typeface="微软雅黑"/>
              </a:rPr>
              <a:t>请写明各位组员的姓名与学号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3835" y="5803265"/>
            <a:ext cx="9484360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689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微软雅黑"/>
                <a:cs typeface="微软雅黑"/>
              </a:rPr>
              <a:t>将以上四项内容</a:t>
            </a:r>
            <a:r>
              <a:rPr sz="1800" spc="10" dirty="0">
                <a:latin typeface="微软雅黑"/>
                <a:cs typeface="微软雅黑"/>
              </a:rPr>
              <a:t>打包为 </a:t>
            </a:r>
            <a:r>
              <a:rPr sz="1800" spc="-10" dirty="0">
                <a:latin typeface="微软雅黑"/>
                <a:cs typeface="微软雅黑"/>
              </a:rPr>
              <a:t>.zip(</a:t>
            </a:r>
            <a:r>
              <a:rPr sz="1800" spc="-20" dirty="0">
                <a:latin typeface="微软雅黑"/>
                <a:cs typeface="微软雅黑"/>
              </a:rPr>
              <a:t>或其他格式压缩包)，并以组长的姓名与学号命名(如：</a:t>
            </a:r>
            <a:r>
              <a:rPr sz="1800" spc="-50" dirty="0">
                <a:latin typeface="微软雅黑"/>
                <a:cs typeface="微软雅黑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微软雅黑"/>
                <a:cs typeface="微软雅黑"/>
              </a:rPr>
              <a:t>2030xxxxxxx_</a:t>
            </a:r>
            <a:r>
              <a:rPr sz="1800" dirty="0">
                <a:solidFill>
                  <a:srgbClr val="4471C4"/>
                </a:solidFill>
                <a:latin typeface="微软雅黑"/>
                <a:cs typeface="微软雅黑"/>
              </a:rPr>
              <a:t>名字</a:t>
            </a:r>
            <a:r>
              <a:rPr sz="1800" spc="-20" dirty="0">
                <a:solidFill>
                  <a:srgbClr val="4471C4"/>
                </a:solidFill>
                <a:latin typeface="微软雅黑"/>
                <a:cs typeface="微软雅黑"/>
              </a:rPr>
              <a:t>_</a:t>
            </a:r>
            <a:r>
              <a:rPr sz="1800" dirty="0">
                <a:solidFill>
                  <a:srgbClr val="4471C4"/>
                </a:solidFill>
                <a:latin typeface="微软雅黑"/>
                <a:cs typeface="微软雅黑"/>
              </a:rPr>
              <a:t>课程作业.zip</a:t>
            </a:r>
            <a:r>
              <a:rPr sz="1800" spc="-10" dirty="0">
                <a:latin typeface="微软雅黑"/>
                <a:cs typeface="微软雅黑"/>
              </a:rPr>
              <a:t>) 上传至 </a:t>
            </a:r>
            <a:r>
              <a:rPr sz="1800" dirty="0">
                <a:latin typeface="微软雅黑"/>
                <a:cs typeface="微软雅黑"/>
              </a:rPr>
              <a:t>e</a:t>
            </a:r>
            <a:r>
              <a:rPr lang="en-US" altLang="en-US" sz="1800" dirty="0">
                <a:latin typeface="微软雅黑"/>
                <a:cs typeface="微软雅黑"/>
              </a:rPr>
              <a:t>learning。</a:t>
            </a:r>
            <a:endParaRPr lang="en-US" altLang="en-US" sz="18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8600" y="228600"/>
            <a:ext cx="473456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/>
              <a:t>文档区域检测与提取</a:t>
            </a:r>
            <a:endParaRPr lang="zh-CN" alt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7280" y="1256030"/>
            <a:ext cx="9443720" cy="24472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简介：通过算法技术去除杂乱的拍摄背景并精准框取文档。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数据集：训练集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1957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张，测试集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840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张。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提交内容：完整代码与实验报告；实验报告中需给出测试样例，</a:t>
            </a:r>
            <a:r>
              <a:rPr lang="zh-CN" altLang="en-US" sz="2200" b="1" spc="-20" dirty="0">
                <a:solidFill>
                  <a:srgbClr val="10253F"/>
                </a:solidFill>
                <a:latin typeface="Arial" panose="020B0604020202090204" pitchFamily="34" charset="0"/>
                <a:cs typeface="微软雅黑"/>
              </a:rPr>
              <a:t>无需提交全部的测试集图片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评价指标：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IoU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sz="2200" spc="-20" dirty="0">
                <a:solidFill>
                  <a:srgbClr val="10253F"/>
                </a:solidFill>
                <a:latin typeface="微软雅黑"/>
                <a:cs typeface="微软雅黑"/>
              </a:rPr>
              <a:t>样例：</a:t>
            </a:r>
            <a:endParaRPr sz="2200">
              <a:latin typeface="微软雅黑"/>
              <a:cs typeface="微软雅黑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0" y="3886200"/>
            <a:ext cx="3648075" cy="208724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6005830" y="3886200"/>
            <a:ext cx="3472815" cy="2087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86200" y="228600"/>
            <a:ext cx="482409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/>
              <a:t>文档边缘检测与定位</a:t>
            </a:r>
            <a:endParaRPr lang="zh-CN" alt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7280" y="1256030"/>
            <a:ext cx="9382760" cy="24472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简介：通过算法技术去除杂乱的拍摄背景并精准框取文档边缘。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数据集：训练集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1957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张，测试集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840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张。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提交内容：完整代码与实验报告；实验报告中需给出测试样例，</a:t>
            </a:r>
            <a:r>
              <a:rPr lang="zh-CN" altLang="en-US" sz="2200" b="1" spc="-20" dirty="0">
                <a:solidFill>
                  <a:srgbClr val="10253F"/>
                </a:solidFill>
                <a:latin typeface="Arial" panose="020B0604020202090204" pitchFamily="34" charset="0"/>
                <a:cs typeface="微软雅黑"/>
              </a:rPr>
              <a:t>无需提交全部的测试集图片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评价指标：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IoU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sz="2200" spc="-20" dirty="0">
                <a:solidFill>
                  <a:srgbClr val="10253F"/>
                </a:solidFill>
                <a:latin typeface="微软雅黑"/>
                <a:cs typeface="微软雅黑"/>
              </a:rPr>
              <a:t>样例：</a:t>
            </a:r>
            <a:endParaRPr sz="2200">
              <a:latin typeface="微软雅黑"/>
              <a:cs typeface="微软雅黑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0" y="3886200"/>
            <a:ext cx="3648075" cy="2087245"/>
          </a:xfrm>
          <a:prstGeom prst="rect">
            <a:avLst/>
          </a:prstGeom>
        </p:spPr>
      </p:pic>
      <p:pic>
        <p:nvPicPr>
          <p:cNvPr id="6" name="图片 4"/>
          <p:cNvPicPr>
            <a:picLocks noChangeAspect="1"/>
          </p:cNvPicPr>
          <p:nvPr/>
        </p:nvPicPr>
        <p:blipFill>
          <a:blip r:embed="rId2"/>
          <a:srcRect t="18770" r="2637" b="24988"/>
          <a:stretch>
            <a:fillRect/>
          </a:stretch>
        </p:blipFill>
        <p:spPr>
          <a:xfrm>
            <a:off x="6019800" y="3869690"/>
            <a:ext cx="3641725" cy="2103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01110" y="228600"/>
            <a:ext cx="459041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/>
              <a:t>无人机图像语义分割</a:t>
            </a:r>
            <a:endParaRPr lang="zh-CN" alt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7280" y="1256030"/>
            <a:ext cx="9486265" cy="278574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简介：对无人机航拍图像进行像素级语义分割，对图像中的道路、植被、水体、建筑物、车辆、人物等地物类别进行识别与分类。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数据集：训练集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367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张，测试集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101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张。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提交内容：完整代码与实验报告；实验报告中需给出测试样例，</a:t>
            </a:r>
            <a:r>
              <a:rPr lang="zh-CN" altLang="en-US" sz="2200" b="1" spc="-20" dirty="0">
                <a:solidFill>
                  <a:srgbClr val="10253F"/>
                </a:solidFill>
                <a:latin typeface="Arial" panose="020B0604020202090204" pitchFamily="34" charset="0"/>
                <a:cs typeface="微软雅黑"/>
              </a:rPr>
              <a:t>无需提交全部的测试集图片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评价指标：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IoU</a:t>
            </a: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、像素准确率。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sz="2200" spc="-20" dirty="0">
                <a:solidFill>
                  <a:srgbClr val="10253F"/>
                </a:solidFill>
                <a:latin typeface="微软雅黑"/>
                <a:cs typeface="微软雅黑"/>
              </a:rPr>
              <a:t>样例：</a:t>
            </a:r>
            <a:endParaRPr sz="2200">
              <a:latin typeface="微软雅黑"/>
              <a:cs typeface="微软雅黑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rcRect r="33832"/>
          <a:stretch>
            <a:fillRect/>
          </a:stretch>
        </p:blipFill>
        <p:spPr>
          <a:xfrm>
            <a:off x="2660650" y="3820160"/>
            <a:ext cx="6359525" cy="2440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5300" y="180339"/>
            <a:ext cx="358140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spc="-10" dirty="0"/>
              <a:t>参考</a:t>
            </a:r>
            <a:r>
              <a:rPr lang="zh-CN" spc="-10" dirty="0"/>
              <a:t>示例</a:t>
            </a:r>
            <a:endParaRPr lang="zh-CN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3000" y="914400"/>
            <a:ext cx="9843770" cy="5866765"/>
          </a:xfrm>
          <a:prstGeom prst="rect">
            <a:avLst/>
          </a:prstGeom>
        </p:spPr>
        <p:txBody>
          <a:bodyPr vert="horz" wrap="square" lIns="0" tIns="82550" rIns="0" bIns="0" rtlCol="0">
            <a:noAutofit/>
          </a:bodyPr>
          <a:lstStyle/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阶段一：完成</a:t>
            </a:r>
            <a:r>
              <a:rPr lang="en-US" altLang="zh-CN" sz="1400">
                <a:latin typeface="微软雅黑"/>
                <a:cs typeface="微软雅黑"/>
              </a:rPr>
              <a:t> CNN baseline</a:t>
            </a:r>
            <a:endParaRPr lang="en-US" altLang="zh-CN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跑通任务，建立基本实验流程。使用模型</a:t>
            </a:r>
            <a:r>
              <a:rPr lang="en-US" altLang="zh-CN" sz="1400">
                <a:latin typeface="微软雅黑"/>
                <a:cs typeface="微软雅黑"/>
              </a:rPr>
              <a:t> U-Net</a:t>
            </a:r>
            <a:r>
              <a:rPr lang="zh-CN" altLang="en-US" sz="1400">
                <a:latin typeface="微软雅黑"/>
                <a:cs typeface="微软雅黑"/>
              </a:rPr>
              <a:t>。完成模型的训练与测试。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提交可视化的结果与指标报告。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endParaRPr lang="en-US" altLang="zh-CN" sz="7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阶段二：在</a:t>
            </a:r>
            <a:r>
              <a:rPr lang="en-US" altLang="zh-CN" sz="1400">
                <a:latin typeface="微软雅黑"/>
                <a:cs typeface="微软雅黑"/>
              </a:rPr>
              <a:t> CNN </a:t>
            </a:r>
            <a:r>
              <a:rPr lang="zh-CN" altLang="en-US" sz="1400">
                <a:latin typeface="微软雅黑"/>
                <a:cs typeface="微软雅黑"/>
              </a:rPr>
              <a:t>框架内进行改进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不仅需要跑通</a:t>
            </a:r>
            <a:r>
              <a:rPr lang="en-US" altLang="zh-CN" sz="1400">
                <a:latin typeface="微软雅黑"/>
                <a:cs typeface="微软雅黑"/>
              </a:rPr>
              <a:t> baseline</a:t>
            </a:r>
            <a:r>
              <a:rPr lang="zh-CN" altLang="en-US" sz="1400">
                <a:latin typeface="微软雅黑"/>
                <a:cs typeface="微软雅黑"/>
              </a:rPr>
              <a:t>，还需要对其进行合理优化。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在</a:t>
            </a:r>
            <a:r>
              <a:rPr lang="en-US" altLang="zh-CN" sz="1400">
                <a:latin typeface="微软雅黑"/>
                <a:cs typeface="微软雅黑"/>
              </a:rPr>
              <a:t> UNet </a:t>
            </a:r>
            <a:r>
              <a:rPr lang="zh-CN" altLang="en-US" sz="1400">
                <a:latin typeface="微软雅黑"/>
                <a:cs typeface="微软雅黑"/>
              </a:rPr>
              <a:t>的基础上添加注意力模块</a:t>
            </a:r>
            <a:r>
              <a:rPr lang="en-US" altLang="zh-CN" sz="1400">
                <a:latin typeface="微软雅黑"/>
                <a:cs typeface="微软雅黑"/>
              </a:rPr>
              <a:t> (CBAM: https://openaccess.thecvf.com/content_ECCV_2018/papers/Sanghyun_Woo_Convolutional_Block_Attention_ECCV_2018_paper.pdf )</a:t>
            </a:r>
            <a:endParaRPr lang="en-US" altLang="zh-CN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与</a:t>
            </a:r>
            <a:r>
              <a:rPr lang="en-US" altLang="zh-CN" sz="1400">
                <a:latin typeface="微软雅黑"/>
                <a:cs typeface="微软雅黑"/>
              </a:rPr>
              <a:t> U-Net baseline</a:t>
            </a:r>
            <a:r>
              <a:rPr lang="zh-CN" altLang="en-US" sz="1400">
                <a:latin typeface="微软雅黑"/>
                <a:cs typeface="微软雅黑"/>
              </a:rPr>
              <a:t>进行对比，提交可视化的结果、指标报告以及分析性能变化的原因。</a:t>
            </a:r>
            <a:endParaRPr lang="zh-CN" altLang="en-US" sz="14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endParaRPr lang="en-US" altLang="zh-CN" sz="7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阶段三：跨框架对比实验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使用</a:t>
            </a:r>
            <a:r>
              <a:rPr lang="en-US" altLang="zh-CN" sz="1400">
                <a:latin typeface="微软雅黑"/>
                <a:cs typeface="微软雅黑"/>
              </a:rPr>
              <a:t> Vision Transformer </a:t>
            </a:r>
            <a:r>
              <a:rPr lang="zh-CN" altLang="en-US" sz="1400">
                <a:latin typeface="微软雅黑"/>
                <a:cs typeface="微软雅黑"/>
              </a:rPr>
              <a:t>进行实验。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与</a:t>
            </a:r>
            <a:r>
              <a:rPr lang="en-US" altLang="zh-CN" sz="1400">
                <a:latin typeface="微软雅黑"/>
                <a:cs typeface="微软雅黑"/>
              </a:rPr>
              <a:t> U-Net </a:t>
            </a:r>
            <a:r>
              <a:rPr lang="zh-CN" altLang="en-US" sz="1400">
                <a:latin typeface="微软雅黑"/>
                <a:cs typeface="微软雅黑"/>
              </a:rPr>
              <a:t>及其改进版本进行对比，提交可视化的结果、指标报告以及分析性能变化的原因。</a:t>
            </a:r>
            <a:endParaRPr lang="zh-CN" altLang="en-US" sz="1400">
              <a:latin typeface="微软雅黑"/>
              <a:cs typeface="微软雅黑"/>
            </a:endParaRPr>
          </a:p>
          <a:p>
            <a:pPr marL="1383665" lvl="2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若性能提升，分析</a:t>
            </a:r>
            <a:r>
              <a:rPr lang="en-US" altLang="zh-CN" sz="1400">
                <a:latin typeface="微软雅黑"/>
                <a:cs typeface="微软雅黑"/>
              </a:rPr>
              <a:t> ViT </a:t>
            </a:r>
            <a:r>
              <a:rPr lang="zh-CN" altLang="en-US" sz="1400">
                <a:latin typeface="微软雅黑"/>
                <a:cs typeface="微软雅黑"/>
              </a:rPr>
              <a:t>相较于</a:t>
            </a:r>
            <a:r>
              <a:rPr lang="en-US" altLang="zh-CN" sz="1400">
                <a:latin typeface="微软雅黑"/>
                <a:cs typeface="微软雅黑"/>
              </a:rPr>
              <a:t> CNN </a:t>
            </a:r>
            <a:r>
              <a:rPr lang="zh-CN" altLang="en-US" sz="1400">
                <a:latin typeface="微软雅黑"/>
                <a:cs typeface="微软雅黑"/>
              </a:rPr>
              <a:t>框架网络（如</a:t>
            </a:r>
            <a:r>
              <a:rPr lang="en-US" altLang="zh-CN" sz="1400">
                <a:latin typeface="微软雅黑"/>
                <a:cs typeface="微软雅黑"/>
              </a:rPr>
              <a:t>U-Net</a:t>
            </a:r>
            <a:r>
              <a:rPr lang="zh-CN" altLang="en-US" sz="1400">
                <a:latin typeface="微软雅黑"/>
                <a:cs typeface="微软雅黑"/>
              </a:rPr>
              <a:t>）</a:t>
            </a:r>
            <a:r>
              <a:rPr lang="en-US" altLang="zh-CN" sz="1400">
                <a:latin typeface="微软雅黑"/>
                <a:cs typeface="微软雅黑"/>
              </a:rPr>
              <a:t> </a:t>
            </a:r>
            <a:r>
              <a:rPr lang="zh-CN" altLang="en-US" sz="1400">
                <a:latin typeface="微软雅黑"/>
                <a:cs typeface="微软雅黑"/>
              </a:rPr>
              <a:t>的优势。</a:t>
            </a:r>
            <a:endParaRPr lang="zh-CN" altLang="en-US" sz="1400">
              <a:latin typeface="微软雅黑"/>
              <a:cs typeface="微软雅黑"/>
            </a:endParaRPr>
          </a:p>
          <a:p>
            <a:pPr marL="1383665" lvl="2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若性能下降，分析</a:t>
            </a:r>
            <a:r>
              <a:rPr lang="en-US" altLang="zh-CN" sz="1400">
                <a:latin typeface="微软雅黑"/>
                <a:cs typeface="微软雅黑"/>
              </a:rPr>
              <a:t> ViT </a:t>
            </a:r>
            <a:r>
              <a:rPr lang="zh-CN" altLang="en-US" sz="1400">
                <a:latin typeface="微软雅黑"/>
                <a:cs typeface="微软雅黑"/>
              </a:rPr>
              <a:t>相较于</a:t>
            </a:r>
            <a:r>
              <a:rPr lang="en-US" altLang="zh-CN" sz="1400">
                <a:latin typeface="微软雅黑"/>
                <a:cs typeface="微软雅黑"/>
              </a:rPr>
              <a:t> CNN </a:t>
            </a:r>
            <a:r>
              <a:rPr lang="zh-CN" altLang="en-US" sz="1400">
                <a:latin typeface="微软雅黑"/>
                <a:cs typeface="微软雅黑"/>
              </a:rPr>
              <a:t>框架网络（如</a:t>
            </a:r>
            <a:r>
              <a:rPr lang="en-US" altLang="zh-CN" sz="1400">
                <a:latin typeface="微软雅黑"/>
                <a:cs typeface="微软雅黑"/>
              </a:rPr>
              <a:t>U-Net</a:t>
            </a:r>
            <a:r>
              <a:rPr lang="zh-CN" altLang="en-US" sz="1400">
                <a:latin typeface="微软雅黑"/>
                <a:cs typeface="微软雅黑"/>
              </a:rPr>
              <a:t>）</a:t>
            </a:r>
            <a:r>
              <a:rPr lang="en-US" altLang="zh-CN" sz="1400">
                <a:latin typeface="微软雅黑"/>
                <a:cs typeface="微软雅黑"/>
              </a:rPr>
              <a:t> </a:t>
            </a:r>
            <a:r>
              <a:rPr lang="zh-CN" altLang="en-US" sz="1400">
                <a:latin typeface="微软雅黑"/>
                <a:cs typeface="微软雅黑"/>
              </a:rPr>
              <a:t>的劣势，并分析性能下降的原因。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endParaRPr lang="en-US" altLang="zh-CN" sz="7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阶段四：融合建模阶段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将局部建模能力强的</a:t>
            </a:r>
            <a:r>
              <a:rPr lang="en-US" altLang="zh-CN" sz="1400">
                <a:latin typeface="微软雅黑"/>
                <a:cs typeface="微软雅黑"/>
              </a:rPr>
              <a:t> CNN </a:t>
            </a:r>
            <a:r>
              <a:rPr lang="zh-CN" altLang="en-US" sz="1400">
                <a:latin typeface="微软雅黑"/>
                <a:cs typeface="微软雅黑"/>
              </a:rPr>
              <a:t>与全局建模能力强的</a:t>
            </a:r>
            <a:r>
              <a:rPr lang="en-US" altLang="zh-CN" sz="1400">
                <a:latin typeface="微软雅黑"/>
                <a:cs typeface="微软雅黑"/>
              </a:rPr>
              <a:t> Transformer </a:t>
            </a:r>
            <a:r>
              <a:rPr lang="zh-CN" altLang="en-US" sz="1400">
                <a:latin typeface="微软雅黑"/>
                <a:cs typeface="微软雅黑"/>
              </a:rPr>
              <a:t>进行互补。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使用</a:t>
            </a:r>
            <a:r>
              <a:rPr lang="en-US" altLang="zh-CN" sz="1400">
                <a:latin typeface="微软雅黑"/>
                <a:cs typeface="微软雅黑"/>
              </a:rPr>
              <a:t> TransUNet </a:t>
            </a:r>
            <a:r>
              <a:rPr lang="zh-CN" altLang="en-US" sz="1400">
                <a:latin typeface="微软雅黑"/>
                <a:cs typeface="微软雅黑"/>
              </a:rPr>
              <a:t>进行实验（</a:t>
            </a:r>
            <a:r>
              <a:rPr lang="en-US" altLang="zh-CN" sz="1400">
                <a:latin typeface="微软雅黑"/>
                <a:cs typeface="微软雅黑"/>
              </a:rPr>
              <a:t>https://arxiv.org/pdf/2102.04306</a:t>
            </a:r>
            <a:r>
              <a:rPr lang="zh-CN" altLang="en-US" sz="1400">
                <a:latin typeface="微软雅黑"/>
                <a:cs typeface="微软雅黑"/>
              </a:rPr>
              <a:t>）。</a:t>
            </a:r>
            <a:endParaRPr lang="zh-CN" altLang="en-US" sz="14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400">
                <a:latin typeface="微软雅黑"/>
                <a:cs typeface="微软雅黑"/>
              </a:rPr>
              <a:t>与前三阶段的实验进行对比，提交可视化的结果、指标报告以及分析性能变化的原因。</a:t>
            </a:r>
            <a:endParaRPr lang="zh-CN" altLang="en-US"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8485" y="228600"/>
            <a:ext cx="636397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/>
              <a:t>文生图微调的光效图像生成</a:t>
            </a:r>
            <a:endParaRPr lang="zh-CN" alt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7280" y="1066800"/>
            <a:ext cx="9857105" cy="388874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简介：通过大语言模型与文生图模型微调技术，根据场景文本描述生成高保真光效图像，并结合物理色域约束实现可落地的灯光效果表达。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提交内容：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完整代码</a:t>
            </a:r>
            <a:endParaRPr lang="zh-CN" altLang="en-US" sz="18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实验报告</a:t>
            </a:r>
            <a:r>
              <a:rPr lang="en-US" altLang="zh-CN" sz="1800" spc="-20" dirty="0">
                <a:solidFill>
                  <a:srgbClr val="10253F"/>
                </a:solidFill>
                <a:latin typeface="微软雅黑"/>
                <a:cs typeface="微软雅黑"/>
              </a:rPr>
              <a:t>：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需给出测试样例，展示输入文本、生成结果、色域约束前后对比及结果分析</a:t>
            </a:r>
            <a:endParaRPr lang="zh-CN" altLang="en-US" sz="18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914400" lvl="3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en-US" altLang="zh-CN" sz="1800" spc="-20" dirty="0">
                <a:solidFill>
                  <a:srgbClr val="10253F"/>
                </a:solidFill>
                <a:latin typeface="微软雅黑"/>
                <a:cs typeface="微软雅黑"/>
                <a:sym typeface="+mn-ea"/>
              </a:rPr>
              <a:t>xlsx 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  <a:sym typeface="+mn-ea"/>
              </a:rPr>
              <a:t>文件</a:t>
            </a:r>
            <a:r>
              <a:rPr lang="en-US" altLang="zh-CN" sz="1800" spc="-20" dirty="0">
                <a:solidFill>
                  <a:srgbClr val="10253F"/>
                </a:solidFill>
                <a:latin typeface="微软雅黑"/>
                <a:cs typeface="微软雅黑"/>
                <a:sym typeface="+mn-ea"/>
              </a:rPr>
              <a:t>，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  <a:sym typeface="+mn-ea"/>
              </a:rPr>
              <a:t>其中包含</a:t>
            </a:r>
            <a:r>
              <a:rPr lang="zh-CN" altLang="en-US" sz="1800" b="1" spc="-20" dirty="0">
                <a:solidFill>
                  <a:srgbClr val="10253F"/>
                </a:solidFill>
                <a:latin typeface="Arial" panose="020B0604020202090204" pitchFamily="34" charset="0"/>
                <a:cs typeface="微软雅黑"/>
              </a:rPr>
              <a:t>全部的测试集图片</a:t>
            </a:r>
            <a:r>
              <a:rPr lang="en-US" altLang="zh-CN" sz="1800" spc="-20" dirty="0">
                <a:solidFill>
                  <a:srgbClr val="10253F"/>
                </a:solidFill>
                <a:latin typeface="微软雅黑"/>
                <a:cs typeface="微软雅黑"/>
              </a:rPr>
              <a:t>，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如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格式附件所示</a:t>
            </a:r>
            <a:endParaRPr lang="zh-CN" altLang="en-US" sz="18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914400" lvl="3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除模型权重外的其他资料</a:t>
            </a:r>
            <a:r>
              <a:rPr lang="en-US" altLang="zh-CN" sz="1800" spc="-20" dirty="0">
                <a:solidFill>
                  <a:srgbClr val="10253F"/>
                </a:solidFill>
                <a:latin typeface="微软雅黑"/>
                <a:cs typeface="微软雅黑"/>
              </a:rPr>
              <a:t>。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如</a:t>
            </a:r>
            <a:r>
              <a:rPr lang="en-US" altLang="zh-CN" sz="1800" spc="-20" dirty="0">
                <a:solidFill>
                  <a:srgbClr val="10253F"/>
                </a:solidFill>
                <a:latin typeface="微软雅黑"/>
                <a:cs typeface="微软雅黑"/>
              </a:rPr>
              <a:t>：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数据增强所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用的人造数据</a:t>
            </a:r>
            <a:r>
              <a:rPr lang="zh-CN" altLang="en-US" sz="1800" spc="-20" dirty="0">
                <a:solidFill>
                  <a:srgbClr val="10253F"/>
                </a:solidFill>
                <a:latin typeface="微软雅黑"/>
                <a:cs typeface="微软雅黑"/>
              </a:rPr>
              <a:t>等</a:t>
            </a:r>
            <a:endParaRPr lang="zh-CN" altLang="en-US" sz="18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评价指标：使用视觉模型以及人工判断。</a:t>
            </a:r>
            <a:endParaRPr lang="zh-CN" altLang="en-US" sz="22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2200" spc="-20" dirty="0">
                <a:solidFill>
                  <a:srgbClr val="10253F"/>
                </a:solidFill>
                <a:latin typeface="微软雅黑"/>
                <a:cs typeface="微软雅黑"/>
              </a:rPr>
              <a:t>详细内容可见</a:t>
            </a:r>
            <a:r>
              <a:rPr lang="en-US" altLang="zh-CN" sz="2200" spc="-20" dirty="0">
                <a:solidFill>
                  <a:srgbClr val="10253F"/>
                </a:solidFill>
                <a:latin typeface="微软雅黑"/>
                <a:cs typeface="微软雅黑"/>
              </a:rPr>
              <a:t>：</a:t>
            </a:r>
            <a:r>
              <a:rPr lang="en-US" altLang="zh-CN" sz="1200" spc="-20" dirty="0">
                <a:solidFill>
                  <a:srgbClr val="10253F"/>
                </a:solidFill>
                <a:latin typeface="微软雅黑"/>
                <a:cs typeface="微软雅黑"/>
              </a:rPr>
              <a:t>https://ccn4f8ql2gb4.feishu.cn/wiki/TFc2whDTSirVwPkokMucnp94nng?from=from_copylink</a:t>
            </a:r>
            <a:endParaRPr lang="en-US" altLang="zh-CN" sz="2000" spc="-20" dirty="0">
              <a:solidFill>
                <a:srgbClr val="10253F"/>
              </a:solidFill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sz="2200" spc="-20" dirty="0">
                <a:solidFill>
                  <a:srgbClr val="10253F"/>
                </a:solidFill>
                <a:latin typeface="微软雅黑"/>
                <a:cs typeface="微软雅黑"/>
              </a:rPr>
              <a:t>样例：</a:t>
            </a:r>
            <a:endParaRPr sz="2200">
              <a:latin typeface="微软雅黑"/>
              <a:cs typeface="微软雅黑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2845435" y="4697095"/>
          <a:ext cx="6418580" cy="1938655"/>
        </p:xfrm>
        <a:graphic>
          <a:graphicData uri="http://schemas.openxmlformats.org/drawingml/2006/table">
            <a:tbl>
              <a:tblPr/>
              <a:tblGrid>
                <a:gridCol w="3246755"/>
                <a:gridCol w="3171825"/>
              </a:tblGrid>
              <a:tr h="425450">
                <a:tc>
                  <a:txBody>
                    <a:bodyPr/>
                    <a:p>
                      <a:pPr algn="ctr" fontAlgn="t"/>
                      <a:r>
                        <a:rPr lang="zh-CN" altLang="en-US" sz="1100"/>
                        <a:t>输入文本</a:t>
                      </a:r>
                      <a:endParaRPr lang="zh-CN" altLang="en-US" sz="1100"/>
                    </a:p>
                  </a:txBody>
                  <a:tcPr marL="101917" marR="101917" marT="101917" marB="101917" anchor="t" anchorCtr="0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1100"/>
                        <a:t>输出图片</a:t>
                      </a:r>
                      <a:endParaRPr lang="zh-CN" altLang="en-US" sz="1100"/>
                    </a:p>
                  </a:txBody>
                  <a:tcPr marL="101917" marR="101917" marT="101917" marB="101917" anchor="t" anchorCtr="0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6285">
                <a:tc>
                  <a:txBody>
                    <a:bodyPr/>
                    <a:p>
                      <a:pPr algn="l" fontAlgn="ctr"/>
                      <a:r>
                        <a:rPr lang="zh-CN" altLang="en-US" sz="1100"/>
                        <a:t>酒店套房客厅，浪漫氛围。</a:t>
                      </a:r>
                      <a:endParaRPr lang="zh-CN" altLang="en-US" sz="1100"/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101917" marR="101917" marT="101917" marB="101917" anchor="t" anchorCtr="0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6920">
                <a:tc>
                  <a:txBody>
                    <a:bodyPr/>
                    <a:p>
                      <a:pPr algn="l" fontAlgn="ctr"/>
                      <a:r>
                        <a:rPr lang="zh-CN" altLang="en-US" sz="1100"/>
                        <a:t>酒店酒吧，抽象霓虹样式光，用于微醺、社交、停留延长。</a:t>
                      </a:r>
                      <a:endParaRPr lang="zh-CN" altLang="en-US" sz="1100"/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101917" marR="101917" marT="101917" marB="101917" anchor="t" anchorCtr="0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6553200" y="5164455"/>
            <a:ext cx="2209165" cy="672465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6554470" y="5943600"/>
            <a:ext cx="2207895" cy="671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5300" y="180339"/>
            <a:ext cx="358140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spc="-10" dirty="0"/>
              <a:t>自主选题</a:t>
            </a:r>
            <a:endParaRPr lang="zh-CN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7280" y="1256030"/>
            <a:ext cx="9843770" cy="4982210"/>
          </a:xfrm>
          <a:prstGeom prst="rect">
            <a:avLst/>
          </a:prstGeom>
        </p:spPr>
        <p:txBody>
          <a:bodyPr vert="horz" wrap="square" lIns="0" tIns="82550" rIns="0" bIns="0" rtlCol="0">
            <a:noAutofit/>
          </a:bodyPr>
          <a:lstStyle/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学生也可以结合本课程内容，自主选择一个与计算机视觉相关的任务方向开展实验，如图像分类、目标检测、语义分割、边缘检测等。但自主选题的工作量不得低于指定题目，且须具有明确的技术路线和实验分析过程。</a:t>
            </a:r>
            <a:br>
              <a:rPr lang="zh-CN" altLang="en-US" sz="1600">
                <a:latin typeface="微软雅黑"/>
                <a:cs typeface="微软雅黑"/>
              </a:rPr>
            </a:br>
            <a:r>
              <a:rPr lang="zh-CN" altLang="en-US" sz="1600">
                <a:latin typeface="微软雅黑"/>
                <a:cs typeface="微软雅黑"/>
              </a:rPr>
              <a:t>自主选题需满足以下至少一个要求：</a:t>
            </a:r>
            <a:endParaRPr lang="zh-CN" altLang="en-US" sz="16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模型优化路径要求</a:t>
            </a:r>
            <a:endParaRPr lang="zh-CN" altLang="en-US" sz="16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自主选题必须能够体现模型逐步优化的过程。需至少完成：</a:t>
            </a:r>
            <a:endParaRPr lang="zh-CN" altLang="en-US" sz="16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一个</a:t>
            </a:r>
            <a:r>
              <a:rPr lang="en-US" altLang="zh-CN" sz="1600">
                <a:latin typeface="微软雅黑"/>
                <a:cs typeface="微软雅黑"/>
              </a:rPr>
              <a:t> baseline </a:t>
            </a:r>
            <a:r>
              <a:rPr lang="zh-CN" altLang="en-US" sz="1600">
                <a:latin typeface="微软雅黑"/>
                <a:cs typeface="微软雅黑"/>
              </a:rPr>
              <a:t>模型；</a:t>
            </a:r>
            <a:endParaRPr lang="zh-CN" altLang="en-US" sz="16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在</a:t>
            </a:r>
            <a:r>
              <a:rPr lang="en-US" altLang="zh-CN" sz="1600">
                <a:latin typeface="微软雅黑"/>
                <a:cs typeface="微软雅黑"/>
              </a:rPr>
              <a:t> baseline </a:t>
            </a:r>
            <a:r>
              <a:rPr lang="zh-CN" altLang="en-US" sz="1600">
                <a:latin typeface="微软雅黑"/>
                <a:cs typeface="微软雅黑"/>
              </a:rPr>
              <a:t>基础上的至少一次明确改进；</a:t>
            </a:r>
            <a:endParaRPr lang="zh-CN" altLang="en-US" sz="16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不同模型、模块或训练策略之间的对比分析；</a:t>
            </a:r>
            <a:endParaRPr lang="zh-CN" altLang="en-US" sz="16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对实验结果进行原因分析，</a:t>
            </a:r>
            <a:r>
              <a:rPr lang="zh-CN" altLang="en-US" sz="1600">
                <a:latin typeface="微软雅黑"/>
                <a:cs typeface="微软雅黑"/>
              </a:rPr>
              <a:t>并报告最终指标。</a:t>
            </a:r>
            <a:endParaRPr lang="zh-CN" altLang="en-US" sz="16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自主选题不能仅提交单个模型的运行结果，而应展示</a:t>
            </a:r>
            <a:r>
              <a:rPr lang="en-US" altLang="zh-CN" sz="1600">
                <a:latin typeface="微软雅黑"/>
                <a:cs typeface="微软雅黑"/>
              </a:rPr>
              <a:t>“</a:t>
            </a:r>
            <a:r>
              <a:rPr lang="zh-CN" altLang="en-US" sz="1600">
                <a:latin typeface="微软雅黑"/>
                <a:cs typeface="微软雅黑"/>
              </a:rPr>
              <a:t>基线模型</a:t>
            </a:r>
            <a:r>
              <a:rPr lang="en-US" altLang="zh-CN" sz="1600">
                <a:latin typeface="微软雅黑"/>
                <a:cs typeface="微软雅黑"/>
              </a:rPr>
              <a:t> </a:t>
            </a:r>
            <a:r>
              <a:rPr lang="en-US" altLang="en-US" sz="1600">
                <a:latin typeface="微软雅黑"/>
                <a:cs typeface="微软雅黑"/>
              </a:rPr>
              <a:t>→</a:t>
            </a:r>
            <a:r>
              <a:rPr lang="en-US" altLang="zh-CN" sz="1600">
                <a:latin typeface="微软雅黑"/>
                <a:cs typeface="微软雅黑"/>
              </a:rPr>
              <a:t> </a:t>
            </a:r>
            <a:r>
              <a:rPr lang="zh-CN" altLang="en-US" sz="1600">
                <a:latin typeface="微软雅黑"/>
                <a:cs typeface="微软雅黑"/>
              </a:rPr>
              <a:t>改进模型</a:t>
            </a:r>
            <a:r>
              <a:rPr lang="en-US" altLang="zh-CN" sz="1600">
                <a:latin typeface="微软雅黑"/>
                <a:cs typeface="微软雅黑"/>
              </a:rPr>
              <a:t> </a:t>
            </a:r>
            <a:r>
              <a:rPr lang="en-US" altLang="en-US" sz="1600">
                <a:latin typeface="微软雅黑"/>
                <a:cs typeface="微软雅黑"/>
              </a:rPr>
              <a:t>→</a:t>
            </a:r>
            <a:r>
              <a:rPr lang="en-US" altLang="zh-CN" sz="1600">
                <a:latin typeface="微软雅黑"/>
                <a:cs typeface="微软雅黑"/>
              </a:rPr>
              <a:t> </a:t>
            </a:r>
            <a:r>
              <a:rPr lang="zh-CN" altLang="en-US" sz="1600">
                <a:latin typeface="微软雅黑"/>
                <a:cs typeface="微软雅黑"/>
              </a:rPr>
              <a:t>对比分析</a:t>
            </a:r>
            <a:r>
              <a:rPr lang="en-US" altLang="zh-CN" sz="1600">
                <a:latin typeface="微软雅黑"/>
                <a:cs typeface="微软雅黑"/>
              </a:rPr>
              <a:t> </a:t>
            </a:r>
            <a:r>
              <a:rPr lang="en-US" altLang="en-US" sz="1600">
                <a:latin typeface="微软雅黑"/>
                <a:cs typeface="微软雅黑"/>
              </a:rPr>
              <a:t>→</a:t>
            </a:r>
            <a:r>
              <a:rPr lang="en-US" altLang="zh-CN" sz="1600">
                <a:latin typeface="微软雅黑"/>
                <a:cs typeface="微软雅黑"/>
              </a:rPr>
              <a:t> </a:t>
            </a:r>
            <a:r>
              <a:rPr lang="zh-CN" altLang="en-US" sz="1600">
                <a:latin typeface="微软雅黑"/>
                <a:cs typeface="微软雅黑"/>
              </a:rPr>
              <a:t>总结结论</a:t>
            </a:r>
            <a:r>
              <a:rPr lang="en-US" altLang="zh-CN" sz="1600">
                <a:latin typeface="微软雅黑"/>
                <a:cs typeface="微软雅黑"/>
              </a:rPr>
              <a:t>”</a:t>
            </a:r>
            <a:r>
              <a:rPr lang="zh-CN" altLang="en-US" sz="1600">
                <a:latin typeface="微软雅黑"/>
                <a:cs typeface="微软雅黑"/>
              </a:rPr>
              <a:t>的完整研究路径。</a:t>
            </a:r>
            <a:endParaRPr lang="zh-CN" altLang="en-US" sz="16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/>
              <a:buChar char="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论文复现类选题要求</a:t>
            </a:r>
            <a:endParaRPr lang="zh-CN" altLang="en-US" sz="1600">
              <a:latin typeface="微软雅黑"/>
              <a:cs typeface="微软雅黑"/>
            </a:endParaRPr>
          </a:p>
          <a:p>
            <a:pPr marL="926465" lvl="1" indent="-456565">
              <a:lnSpc>
                <a:spcPct val="100000"/>
              </a:lnSpc>
              <a:spcBef>
                <a:spcPts val="650"/>
              </a:spcBef>
              <a:buSzPct val="82000"/>
              <a:buFont typeface="Wingdings" panose="05000000000000000000" charset="0"/>
              <a:buChar char=""/>
              <a:tabLst>
                <a:tab pos="469265" algn="l"/>
              </a:tabLst>
            </a:pPr>
            <a:r>
              <a:rPr lang="zh-CN" altLang="en-US" sz="1600">
                <a:latin typeface="微软雅黑"/>
                <a:cs typeface="微软雅黑"/>
              </a:rPr>
              <a:t>若选择</a:t>
            </a:r>
            <a:r>
              <a:rPr lang="en-US" altLang="zh-CN" sz="1600">
                <a:latin typeface="微软雅黑"/>
                <a:cs typeface="微软雅黑"/>
              </a:rPr>
              <a:t>“</a:t>
            </a:r>
            <a:r>
              <a:rPr lang="zh-CN" altLang="en-US" sz="1600">
                <a:latin typeface="微软雅黑"/>
                <a:cs typeface="微软雅黑"/>
              </a:rPr>
              <a:t>复现一篇论文</a:t>
            </a:r>
            <a:r>
              <a:rPr lang="en-US" altLang="zh-CN" sz="1600">
                <a:latin typeface="微软雅黑"/>
                <a:cs typeface="微软雅黑"/>
              </a:rPr>
              <a:t>”</a:t>
            </a:r>
            <a:r>
              <a:rPr lang="zh-CN" altLang="en-US" sz="1600">
                <a:latin typeface="微软雅黑"/>
                <a:cs typeface="微软雅黑"/>
              </a:rPr>
              <a:t>作为自主选题，则除完成论文主要方法的复现外，还需参考论文中的消融实验、设计对比实验，或对模型中的关键模块、超参数、训练策略进行探索分析，以体现对方法的理解，而不</a:t>
            </a:r>
            <a:r>
              <a:rPr lang="zh-CN" altLang="en-US" sz="1600">
                <a:latin typeface="微软雅黑"/>
                <a:cs typeface="微软雅黑"/>
              </a:rPr>
              <a:t>是仅停留在复现结果层面。</a:t>
            </a:r>
            <a:endParaRPr lang="zh-CN" altLang="en-US"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53*173"/>
  <p:tag name="TABLE_ENDDRAG_RECT" val="194*309*653*17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2340</Words>
  <Application>WPS 演示</Application>
  <PresentationFormat>On-screen Show (4:3)</PresentationFormat>
  <Paragraphs>178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</vt:lpstr>
      <vt:lpstr>Microsoft JhengHei</vt:lpstr>
      <vt:lpstr>汉仪中简黑简</vt:lpstr>
      <vt:lpstr>Calibri</vt:lpstr>
      <vt:lpstr>Times New Roman</vt:lpstr>
      <vt:lpstr>宋体</vt:lpstr>
      <vt:lpstr>Wingdings</vt:lpstr>
      <vt:lpstr>Wingdings</vt:lpstr>
      <vt:lpstr>Helvetica Neue</vt:lpstr>
      <vt:lpstr>宋体</vt:lpstr>
      <vt:lpstr>汉仪书宋二KW</vt:lpstr>
      <vt:lpstr>微软雅黑</vt:lpstr>
      <vt:lpstr>Arial Unicode MS</vt:lpstr>
      <vt:lpstr>Microsoft JhengHei</vt:lpstr>
      <vt:lpstr>Times New Roman</vt:lpstr>
      <vt:lpstr>微软雅黑</vt:lpstr>
      <vt:lpstr>Office Theme</vt:lpstr>
      <vt:lpstr>PowerPoint 演示文稿</vt:lpstr>
      <vt:lpstr>课程项目最终提交文档</vt:lpstr>
      <vt:lpstr>文档区域检测与提取</vt:lpstr>
      <vt:lpstr>文档边缘检测与定位</vt:lpstr>
      <vt:lpstr>无人机图像语义分割</vt:lpstr>
      <vt:lpstr>参考示例</vt:lpstr>
      <vt:lpstr>文生图微调的光效图像生成</vt:lpstr>
      <vt:lpstr>自主选题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庞建鸿</cp:lastModifiedBy>
  <cp:revision>25</cp:revision>
  <dcterms:created xsi:type="dcterms:W3CDTF">2026-04-23T07:53:55Z</dcterms:created>
  <dcterms:modified xsi:type="dcterms:W3CDTF">2026-04-23T07:53:55Z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2024-11-08T00:00:00Z</vt:filetime>
  </property>
  <property fmtid="{D5CDD505-2E9C-101B-9397-08002B2CF9AE}" pid="4" name="LastSaved">
    <vt:filetime>2026-04-23T00:00:00Z</vt:filetime>
  </property>
  <property fmtid="{D5CDD505-2E9C-101B-9397-08002B2CF9AE}" pid="5" name="Producer">
    <vt:lpwstr>macOS Version 14.6.1 (Build 23G93) Quartz PDFContext</vt:lpwstr>
  </property>
  <property fmtid="{D5CDD505-2E9C-101B-9397-08002B2CF9AE}" pid="6" name="ICV">
    <vt:lpwstr>E4D3E7CAFF14FC5CA97AE7695EE0D26F_42</vt:lpwstr>
  </property>
  <property fmtid="{D5CDD505-2E9C-101B-9397-08002B2CF9AE}" pid="7" name="KSOProductBuildVer">
    <vt:lpwstr>2052-12.1.25205.25205</vt:lpwstr>
  </property>
</Properties>
</file>